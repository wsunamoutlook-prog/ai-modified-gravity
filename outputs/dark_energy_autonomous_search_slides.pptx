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bea73622314a2f" /><Relationship Type="http://schemas.openxmlformats.org/officeDocument/2006/relationships/extended-properties" Target="/docProps/app.xml" Id="R37df2400675e449f" /><Relationship Type="http://schemas.openxmlformats.org/officeDocument/2006/relationships/officeDocument" Target="/ppt/presentation.xml" Id="R41960a7b93f448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cc742b47346fb"/>
  </p:sldMasterIdLst>
  <p:notesMasterIdLst>
    <p:notesMasterId xmlns:r="http://schemas.openxmlformats.org/officeDocument/2006/relationships" r:id="R0b7a09e5352741ab"/>
  </p:notesMasterIdLst>
  <p:sldIdLst>
    <p:sldId xmlns:r="http://schemas.openxmlformats.org/officeDocument/2006/relationships" id="256" r:id="Rb50e2616099745df"/>
    <p:sldId xmlns:r="http://schemas.openxmlformats.org/officeDocument/2006/relationships" id="257" r:id="Rbba1ef3946a74249"/>
    <p:sldId xmlns:r="http://schemas.openxmlformats.org/officeDocument/2006/relationships" id="258" r:id="R36b28e1f680341ab"/>
    <p:sldId xmlns:r="http://schemas.openxmlformats.org/officeDocument/2006/relationships" id="259" r:id="Rcd27af22a8d84aa0"/>
    <p:sldId xmlns:r="http://schemas.openxmlformats.org/officeDocument/2006/relationships" id="260" r:id="Rc27796d510ce4384"/>
    <p:sldId xmlns:r="http://schemas.openxmlformats.org/officeDocument/2006/relationships" id="261" r:id="R14e0f5f449074a68"/>
    <p:sldId xmlns:r="http://schemas.openxmlformats.org/officeDocument/2006/relationships" id="262" r:id="R8c964358b33b4a42"/>
    <p:sldId xmlns:r="http://schemas.openxmlformats.org/officeDocument/2006/relationships" id="263" r:id="Rb4038489b6d14afe"/>
    <p:sldId xmlns:r="http://schemas.openxmlformats.org/officeDocument/2006/relationships" id="264" r:id="R646d0094c0f74c41"/>
    <p:sldId xmlns:r="http://schemas.openxmlformats.org/officeDocument/2006/relationships" id="265" r:id="Rb32df275c8c742b6"/>
    <p:sldId xmlns:r="http://schemas.openxmlformats.org/officeDocument/2006/relationships" id="266" r:id="R20722cb5dc764647"/>
    <p:sldId xmlns:r="http://schemas.openxmlformats.org/officeDocument/2006/relationships" id="267" r:id="R9db4b1fe6bc24618"/>
    <p:sldId xmlns:r="http://schemas.openxmlformats.org/officeDocument/2006/relationships" id="268" r:id="Re2cc047113d64fa8"/>
    <p:sldId xmlns:r="http://schemas.openxmlformats.org/officeDocument/2006/relationships" id="269" r:id="R56fa0f8d44bf4f63"/>
    <p:sldId xmlns:r="http://schemas.openxmlformats.org/officeDocument/2006/relationships" id="270" r:id="R4e34d65304fb4d38"/>
    <p:sldId xmlns:r="http://schemas.openxmlformats.org/officeDocument/2006/relationships" id="271" r:id="R02931411fde544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1d1f637414437d" /><Relationship Type="http://schemas.openxmlformats.org/officeDocument/2006/relationships/slideMaster" Target="/ppt/slideMasters/slideMaster1.xml" Id="R5ddcc742b47346fb" /><Relationship Type="http://schemas.openxmlformats.org/officeDocument/2006/relationships/notesMaster" Target="/ppt/notesMasters/notesMaster1.xml" Id="R0b7a09e5352741ab" /><Relationship Type="http://schemas.openxmlformats.org/officeDocument/2006/relationships/presProps" Target="/ppt/presProps.xml" Id="Ra9ee1468c86f4549" /><Relationship Type="http://schemas.openxmlformats.org/officeDocument/2006/relationships/tableStyles" Target="/ppt/tableStyles.xml" Id="Rca2291ceeea6486c" /><Relationship Type="http://schemas.openxmlformats.org/officeDocument/2006/relationships/slide" Target="/ppt/slides/slide1.xml" Id="Rb50e2616099745df" /><Relationship Type="http://schemas.openxmlformats.org/officeDocument/2006/relationships/slide" Target="/ppt/slides/slide2.xml" Id="Rbba1ef3946a74249" /><Relationship Type="http://schemas.openxmlformats.org/officeDocument/2006/relationships/slide" Target="/ppt/slides/slide3.xml" Id="R36b28e1f680341ab" /><Relationship Type="http://schemas.openxmlformats.org/officeDocument/2006/relationships/slide" Target="/ppt/slides/slide4.xml" Id="Rcd27af22a8d84aa0" /><Relationship Type="http://schemas.openxmlformats.org/officeDocument/2006/relationships/slide" Target="/ppt/slides/slide5.xml" Id="Rc27796d510ce4384" /><Relationship Type="http://schemas.openxmlformats.org/officeDocument/2006/relationships/slide" Target="/ppt/slides/slide6.xml" Id="R14e0f5f449074a68" /><Relationship Type="http://schemas.openxmlformats.org/officeDocument/2006/relationships/slide" Target="/ppt/slides/slide7.xml" Id="R8c964358b33b4a42" /><Relationship Type="http://schemas.openxmlformats.org/officeDocument/2006/relationships/slide" Target="/ppt/slides/slide8.xml" Id="Rb4038489b6d14afe" /><Relationship Type="http://schemas.openxmlformats.org/officeDocument/2006/relationships/slide" Target="/ppt/slides/slide9.xml" Id="R646d0094c0f74c41" /><Relationship Type="http://schemas.openxmlformats.org/officeDocument/2006/relationships/slide" Target="/ppt/slides/slide10.xml" Id="Rb32df275c8c742b6" /><Relationship Type="http://schemas.openxmlformats.org/officeDocument/2006/relationships/slide" Target="/ppt/slides/slide11.xml" Id="R20722cb5dc764647" /><Relationship Type="http://schemas.openxmlformats.org/officeDocument/2006/relationships/slide" Target="/ppt/slides/slide12.xml" Id="R9db4b1fe6bc24618" /><Relationship Type="http://schemas.openxmlformats.org/officeDocument/2006/relationships/slide" Target="/ppt/slides/slide13.xml" Id="Re2cc047113d64fa8" /><Relationship Type="http://schemas.openxmlformats.org/officeDocument/2006/relationships/slide" Target="/ppt/slides/slide14.xml" Id="R56fa0f8d44bf4f63" /><Relationship Type="http://schemas.openxmlformats.org/officeDocument/2006/relationships/slide" Target="/ppt/slides/slide15.xml" Id="R4e34d65304fb4d38" /><Relationship Type="http://schemas.openxmlformats.org/officeDocument/2006/relationships/slide" Target="/ppt/slides/slide16.xml" Id="R02931411fde5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6e0869f73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0578667c344fba" /><Relationship Type="http://schemas.openxmlformats.org/officeDocument/2006/relationships/notesMaster" Target="/ppt/notesMasters/notesMaster1.xml" Id="R3ff4116a9b4d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55c44d15d749d0" /><Relationship Type="http://schemas.openxmlformats.org/officeDocument/2006/relationships/notesMaster" Target="/ppt/notesMasters/notesMaster1.xml" Id="Ra88679672cc549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ba3b2b7f14f16" /><Relationship Type="http://schemas.openxmlformats.org/officeDocument/2006/relationships/notesMaster" Target="/ppt/notesMasters/notesMaster1.xml" Id="R1b5c114f3e47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5271a9bc8482c" /><Relationship Type="http://schemas.openxmlformats.org/officeDocument/2006/relationships/notesMaster" Target="/ppt/notesMasters/notesMaster1.xml" Id="R3c938255b3424a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78176e61464788" /><Relationship Type="http://schemas.openxmlformats.org/officeDocument/2006/relationships/notesMaster" Target="/ppt/notesMasters/notesMaster1.xml" Id="R495ed00f8e804b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05d27a39d34406" /><Relationship Type="http://schemas.openxmlformats.org/officeDocument/2006/relationships/notesMaster" Target="/ppt/notesMasters/notesMaster1.xml" Id="R4c72af70904340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cc68d33226404b" /><Relationship Type="http://schemas.openxmlformats.org/officeDocument/2006/relationships/notesMaster" Target="/ppt/notesMasters/notesMaster1.xml" Id="R1969819ca1ea40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758ee7eabf4027" /><Relationship Type="http://schemas.openxmlformats.org/officeDocument/2006/relationships/notesMaster" Target="/ppt/notesMasters/notesMaster1.xml" Id="R7faa9d40e40643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51d62142454a97" /><Relationship Type="http://schemas.openxmlformats.org/officeDocument/2006/relationships/notesMaster" Target="/ppt/notesMasters/notesMaster1.xml" Id="Rb75d1e28df5d4c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41f534854488b" /><Relationship Type="http://schemas.openxmlformats.org/officeDocument/2006/relationships/notesMaster" Target="/ppt/notesMasters/notesMaster1.xml" Id="Rd6b50cb2f4ef4c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305626fd4c4e94" /><Relationship Type="http://schemas.openxmlformats.org/officeDocument/2006/relationships/notesMaster" Target="/ppt/notesMasters/notesMaster1.xml" Id="R97dadd2b474a48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c1206d668b4588" /><Relationship Type="http://schemas.openxmlformats.org/officeDocument/2006/relationships/notesMaster" Target="/ppt/notesMasters/notesMaster1.xml" Id="Rbedbd79769de44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f6029655cf40e5" /><Relationship Type="http://schemas.openxmlformats.org/officeDocument/2006/relationships/notesMaster" Target="/ppt/notesMasters/notesMaster1.xml" Id="Rdb619642221743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3f49d358a54c7e" /><Relationship Type="http://schemas.openxmlformats.org/officeDocument/2006/relationships/notesMaster" Target="/ppt/notesMasters/notesMaster1.xml" Id="R2a0e54c0a1d040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b1a38092804c9f" /><Relationship Type="http://schemas.openxmlformats.org/officeDocument/2006/relationships/notesMaster" Target="/ppt/notesMasters/notesMaster1.xml" Id="R16875ea2ea2f4b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86d9ebb94b457e" /><Relationship Type="http://schemas.openxmlformats.org/officeDocument/2006/relationships/notesMaster" Target="/ppt/notesMasters/notesMaster1.xml" Id="R9d241b5e4b2a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claim: the LLM proposes, but the physics code decides. The deck is a readable version of the paper, not a replacement for the derivations.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make the setup approachable: the task is not asking an LLM to invent physics by itself; it is steering a hard validation pipeline through a large search 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this is why the benchmark is meaningful: different LLMs see the same deterministic downstream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confusion about the leaderboard: the headline result is a background-likelihood comparison, not a final theory-of-everything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can be read as the experimental design. Same pipeline, different proposal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benchmark picture. Point out that the best single χ² values are close, while behavior across the run differs strongly.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to answer: which model is best? The honest answer is objective-dependent.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make the result intuitive: the agents are not finding wildly different cosmologies; they are finding a narrow family of expansion histories.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useful in a talk because it shows learning and search dynamics rather than only final ranks.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overclaiming. The safe statement is that the open-search sector finds an EH-anchored dark-energy basin, not a unique final modified-gravity theory.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frames non-EH as a diagnostic search: interesting because it is repeated and runnable, but not currently competitive.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careful way to discuss the non-EH result: repeated and scientifically useful, but not good enough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planning future cluster runs. It justifies comparing by axes instead of a single leaderboard.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connects to the paper's robustness/stability axis and prevents acceptance rate from being overinterpreted.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limitations before the final takeaway. This keeps the conclusion credible.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three claims. They are strong, but still honest about the limits of the present background-only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eb2f5e9a740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71a167cbc4928" /><Relationship Type="http://schemas.openxmlformats.org/officeDocument/2006/relationships/slideLayout" Target="/ppt/slideLayouts/slideLayout1.xml" Id="R130bbd2a50b5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bbd2a50b5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67c2438ba4faf" /><Relationship Type="http://schemas.openxmlformats.org/officeDocument/2006/relationships/notesSlide" Target="/ppt/notesSlides/notesSlide1.xml" Id="Rae2a3aa906c644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3e95327da4a21" /><Relationship Type="http://schemas.openxmlformats.org/officeDocument/2006/relationships/notesSlide" Target="/ppt/notesSlides/notesSlide2.xml" Id="Re5642c13446744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e8102de2642de" /><Relationship Type="http://schemas.openxmlformats.org/officeDocument/2006/relationships/notesSlide" Target="/ppt/notesSlides/notesSlide3.xml" Id="R7340c0658dc84f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95d77bc0646e4" /><Relationship Type="http://schemas.openxmlformats.org/officeDocument/2006/relationships/notesSlide" Target="/ppt/notesSlides/notesSlide4.xml" Id="Ra94872fec8f54f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d65bba2254e70" /><Relationship Type="http://schemas.openxmlformats.org/officeDocument/2006/relationships/notesSlide" Target="/ppt/notesSlides/notesSlide5.xml" Id="R3b7dcbd7b59b4b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172b45808466e" /><Relationship Type="http://schemas.openxmlformats.org/officeDocument/2006/relationships/image" Target="/ppt/media/image.png" Id="R457e8c4fe95745e4" /><Relationship Type="http://schemas.openxmlformats.org/officeDocument/2006/relationships/notesSlide" Target="/ppt/notesSlides/notesSlide6.xml" Id="Reff2c63bcdf244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30b4f1c654912" /><Relationship Type="http://schemas.openxmlformats.org/officeDocument/2006/relationships/notesSlide" Target="/ppt/notesSlides/notesSlide7.xml" Id="R223e41622d72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0258840954b6d" /><Relationship Type="http://schemas.openxmlformats.org/officeDocument/2006/relationships/image" Target="/ppt/media/image2.png" Id="Racb12bab224643d6" /><Relationship Type="http://schemas.openxmlformats.org/officeDocument/2006/relationships/notesSlide" Target="/ppt/notesSlides/notesSlide8.xml" Id="Ra2d6dfad95d349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5be0ba79147af" /><Relationship Type="http://schemas.openxmlformats.org/officeDocument/2006/relationships/image" Target="/ppt/media/image3.png" Id="Re28b097967e54b60" /><Relationship Type="http://schemas.openxmlformats.org/officeDocument/2006/relationships/notesSlide" Target="/ppt/notesSlides/notesSlide9.xml" Id="Re6b58266d7534b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fb115aa2742a6" /><Relationship Type="http://schemas.openxmlformats.org/officeDocument/2006/relationships/notesSlide" Target="/ppt/notesSlides/notesSlide10.xml" Id="Ra1be8bbd3a3543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0e87dde1049db" /><Relationship Type="http://schemas.openxmlformats.org/officeDocument/2006/relationships/image" Target="/ppt/media/image4.png" Id="R63a3211769b34a5e" /><Relationship Type="http://schemas.openxmlformats.org/officeDocument/2006/relationships/notesSlide" Target="/ppt/notesSlides/notesSlide11.xml" Id="Rcf10f255f6d146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d116d83d04e9e" /><Relationship Type="http://schemas.openxmlformats.org/officeDocument/2006/relationships/notesSlide" Target="/ppt/notesSlides/notesSlide12.xml" Id="R812806701ac540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1ee917c934e2d" /><Relationship Type="http://schemas.openxmlformats.org/officeDocument/2006/relationships/image" Target="/ppt/media/image5.png" Id="Refddff15ec324066" /><Relationship Type="http://schemas.openxmlformats.org/officeDocument/2006/relationships/notesSlide" Target="/ppt/notesSlides/notesSlide13.xml" Id="Rdb9958f91231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a6bf1555f4e74" /><Relationship Type="http://schemas.openxmlformats.org/officeDocument/2006/relationships/notesSlide" Target="/ppt/notesSlides/notesSlide14.xml" Id="Rdeb684f6072a4f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3c361ec914f66" /><Relationship Type="http://schemas.openxmlformats.org/officeDocument/2006/relationships/notesSlide" Target="/ppt/notesSlides/notesSlide15.xml" Id="R660220d2d2f24e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5ad39f51a417f" /><Relationship Type="http://schemas.openxmlformats.org/officeDocument/2006/relationships/notesSlide" Target="/ppt/notesSlides/notesSlide16.xml" Id="Rac717ea4ca2841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9972EC-7B9F-4622-BFA2-4D8F0CF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971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Dark Energy Autonomous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F5ED4-66AE-4B82-849C-4A92EE1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LLM proposal agents coupled to a deterministic modified-gravity validation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63757-BA09-4B77-9ADA-600892EF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3CD19-4A6F-4D11-886D-40884424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600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4ACC-EF3E-4EAA-8026-FD139CC6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initial attempts per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4EFF4-4204-4D0E-99B7-4035EFFD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76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9957A-D0B7-46CB-B784-737F80E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385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E070C-BD9A-4DC6-9BAC-B011A4A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proposal models compared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0618A-6EA0-4C85-AD41-BA74CF8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76C5A-F449-431E-82F8-1E38EE4F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385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DES-SN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8060D-B5EF-4F86-9F03-1E35D0A0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86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+ DESI DR2 BAO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CA75F-21EC-4321-9418-DFF6F2F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7B1CF-95F8-476E-9C6D-FAED661B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510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Ranked only by real Solver χ², not by LLM preference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71768-C872-4144-A421-636DF385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from main8_cmp600_final.tex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5D7B8-79D1-453B-B323-9A483F2E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6269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A2B24-7411-40C2-B86A-A016A64B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Why automate the search?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20DD9-AB4B-47F6-AE39-80E654D9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Modified gravity has a huge legal-looking theory space; most candidates are not physically 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E9FEE-1840-4FCF-9062-BB1A80E1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1D1C1-D35D-472C-91F0-16ECBAC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D4D1B-71E0-434C-8A61-9C574D3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D7F17-8A50-4403-8719-51DCE6A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The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31DAF-E6F1-4A23-BE12-66A74383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F3E3-4E21-44C6-9A46-99A9151A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Many covariant Lagrangians generate higher-time-derivative FLRW equations.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3CBF5-A9D0-41DC-B665-AA1B76DB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E8016-28A4-498A-A608-AC9F94E3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Many surviving branches fail numerically or violate the Friedmann constraint.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C9C23-092F-4721-93B8-DDBC9E43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0FF26-0496-4461-A550-A1EE666A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visually elegant operator list is not useful unless it fits real DES-SN + DESI BAO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0F5DF-B91D-4134-8980-1D52AC1B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B9455-8D56-42E5-AB02-0F19CAA5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Search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CC57A-8974-4E13-B920-4861FB6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28900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Find models that are simultaneously legal, runnable, constraint-preserving, and competitive in χ².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8C527-4FC8-4A18-A065-FE029E5A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529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LLM is a proposal policy. The physics pipeline is the judge.</a:t>
            </a:r>
          </a:p>
        </p:txBody>
      </p:sp>
    </p:spTree>
    <p:extLst>
      <p:ext uri="{BB962C8B-B14F-4D97-AF65-F5344CB8AC3E}">
        <p14:creationId xmlns:p14="http://schemas.microsoft.com/office/powerpoint/2010/main" val="890389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3E2D05-B225-4D09-B3E9-EC41B9C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discovery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A685B-F4FC-4C4A-B395-15985B0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Every candidate is isolated, validated, scored, and written back to current-loop memory.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A5777-3CDE-4907-8443-E0165609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B71C-398E-42A6-A7D1-FB3B5A4B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7C8AA-DFC2-4C5E-B5E3-38CFAD4A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6B9E4-BA4C-4D26-AE19-E366149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F58D4-35BA-4C2D-8557-A0115E42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55E24-A628-4B8B-A2A2-A51811A1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LLM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6CC9D-CB3C-48F4-870D-B6C99B5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operator set + scalar family +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67DFE-6D32-4CDA-AA10-12C0DA36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B8F98"/>
                </a:solidFill>
              </a:defRPr>
            </a:pPr>
            <a:r>
              <a:rPr sz="2700" b="1">
                <a:solidFill>
                  <a:srgbClr val="8B8F9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B4647-BF88-4E92-9BA8-D92D579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EA0B0-2619-4E5D-A5F3-566F24F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FBF05-C00A-4C4B-964C-3FC7C696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Grammar + EOM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D29C8-5327-4B22-AF28-8A4B9AC0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legal tokens + FLRW higher-derivative cancellation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27A4E-FC51-44C3-9C8D-92FC011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14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B8F98"/>
                </a:solidFill>
              </a:defRPr>
            </a:pPr>
            <a:r>
              <a:rPr sz="2700" b="1">
                <a:solidFill>
                  <a:srgbClr val="8B8F9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6AC2B-297E-4F7A-873C-41928A25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D18DC-0950-4A75-B98E-E40D060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E64AD-9BCF-41AF-AFEC-99196FA7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Builder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080CF-3DDE-42BC-8397-162BF0A2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dimensionless numerical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4B67D-DE08-45EF-A133-1FCD1363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B8F98"/>
                </a:solidFill>
              </a:defRPr>
            </a:pPr>
            <a:r>
              <a:rPr sz="2700" b="1">
                <a:solidFill>
                  <a:srgbClr val="8B8F9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F16E4-317B-47FD-BE01-C7E3D303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78CB6-18FD-4B53-BA1B-2AD1FF0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294D2-8604-470B-B2ED-49C18C2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Solver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F4F4C-128B-4BE9-9219-EA24E505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DES-SN + DESI BAO χ² and diagnostics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39986-5114-4166-8539-8E0746D6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8B8F98"/>
                </a:solidFill>
              </a:defRPr>
            </a:pPr>
            <a:r>
              <a:rPr sz="2700" b="1">
                <a:solidFill>
                  <a:srgbClr val="8B8F98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FA978-FDB0-4123-8916-9C109F24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190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D4074-AD95-484C-95A0-70944129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860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CB993-6D38-45E3-9E37-E39B0FA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Memory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37526-ACFF-4E10-9B91-8315CDE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learn from successes and failures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AE7E34-326F-4936-A1CC-30F232F9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Key guardrail: historical Solver winners are not used as proposal memory in cold-start runs.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3CC1B-BB86-436C-8F6E-9DEB898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Only current-loop feedback changes the next proposal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110951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07948-4303-4A4D-9696-0258C309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score is intentionally simple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93561-2EC3-491D-82F0-0483F1E5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 candidate wins only if the deterministic Solver produces a lower DES-SN + DESI DR2 BAO χ².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8E299-9DC5-4946-BC42-7836A64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5D6BC-0D51-403F-9BEB-3424C3DD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6F84F-9D7E-49F3-B37D-1ED0AE87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EF14C-E96D-4199-8573-D96876A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898F9-253D-4105-84C9-96B3DFE3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χ² = 1645.28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6E331-9BBE-4FDB-8D7D-7B45F41B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fixed ΛCDM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2AC14-2F1B-4CD6-A875-53194075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F98"/>
                </a:solidFill>
              </a:defRPr>
            </a:pPr>
            <a:r>
              <a:rPr sz="975" b="0">
                <a:solidFill>
                  <a:srgbClr val="8B8F98"/>
                </a:solidFill>
              </a:rPr>
              <a:t>same likelihood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363CF-8B95-4EAB-A9B0-1325ADC6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DC301-A13F-4DF9-A84B-D9793AE3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24075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C7FB8"/>
                </a:solidFill>
              </a:defRPr>
            </a:pPr>
            <a:r>
              <a:rPr sz="2850" b="1">
                <a:solidFill>
                  <a:srgbClr val="2C7FB8"/>
                </a:solidFill>
              </a:rPr>
              <a:t>χ² ≈ 1637.95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40BB5-D881-405F-A05F-A85CEDE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193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best open-search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B0272-64EE-4F6C-BD29-00853803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4797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F98"/>
                </a:solidFill>
              </a:defRPr>
            </a:pPr>
            <a:r>
              <a:rPr sz="975" b="0">
                <a:solidFill>
                  <a:srgbClr val="8B8F98"/>
                </a:solidFill>
              </a:rPr>
              <a:t>about 7.3 lower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14006-6794-428F-A88B-AC00D69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52625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C91E6-156C-4F3D-A06F-27E2689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24075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64B4B"/>
                </a:solidFill>
              </a:defRPr>
            </a:pPr>
            <a:r>
              <a:rPr sz="2850" b="1">
                <a:solidFill>
                  <a:srgbClr val="D64B4B"/>
                </a:solidFill>
              </a:rPr>
              <a:t>χ² ≈ 1946.87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B4CBC-38AF-4FA3-9C66-A546A42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19375"/>
            <a:ext cx="2609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best non-EH branch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53DB-CE0E-40F1-8980-9E065C4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47975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F98"/>
                </a:solidFill>
              </a:defRPr>
            </a:pPr>
            <a:r>
              <a:rPr sz="975" b="0">
                <a:solidFill>
                  <a:srgbClr val="8B8F98"/>
                </a:solidFill>
              </a:rPr>
              <a:t>diagnostic, not competitive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FB0C4-32D0-4EEC-8640-C12E3F25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5B279-32D4-4BB4-B78B-0497CDB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9751E-845A-428A-93E2-EAB226A8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878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Lower χ² means a better background-distance fit.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FFB6A-F622-459F-BD4A-6B09BC54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B2C0D-9495-4F7E-9FD5-DEB8838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878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AIC/BIC are recorded, but the paper ranks by total χ².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5DCAB-2E2C-4BA9-9F98-89D45512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59144-7180-4150-987B-698425A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38750"/>
            <a:ext cx="878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Accepted means background-level viability, not full perturbative or covariant viability.</a:t>
            </a:r>
          </a:p>
        </p:txBody>
      </p:sp>
    </p:spTree>
    <p:extLst>
      <p:ext uri="{BB962C8B-B14F-4D97-AF65-F5344CB8AC3E}">
        <p14:creationId xmlns:p14="http://schemas.microsoft.com/office/powerpoint/2010/main" val="532260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0A900E-B10B-4F49-8C65-8BFFA7C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Matched agent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D88D1-ED45-46F5-AA7F-F9D355CC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Five proposal models were compared under the same grammar, sampler, scheduler, and Solver.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3110B-8005-4970-92FA-653E9788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7255-1306-41A4-B3C4-3E6B1F82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5A969-611B-48E7-911C-E3DE599D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19150" y="1638300"/>
          <a:ext xmlns:a="http://schemas.openxmlformats.org/drawingml/2006/main" cx="8572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1714500"/>
                <a:gridCol w="457200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Proposal model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Provider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Role in comparison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GPT-5.5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OpenAI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fast, competitive baseline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Claude Opus 4.8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Anthropic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best speed-quality compromise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Gemini 3.1 Pro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Google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strong open-search optimum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Qwen 3.7 Plus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Alibaba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strongest non-EH hit count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DeepSeek V4 Pro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Alibaba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best and densest open-search basin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4A975-278B-4F21-899A-FAFEFCFC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4380C-37C2-4DDC-BAF2-5622A849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574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600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9993E-FC31-460F-95DC-6E70538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0985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theory attempts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22408-8932-42C7-886F-FFB81779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4330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94D86-E9D1-40C1-AA54-645064FE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909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98263-3FFB-4D1A-9FC1-A2019F67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43400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sectors: open-search and non-EH</a:t>
            </a:r>
          </a:p>
        </p:txBody>
      </p:sp>
    </p:spTree>
    <p:extLst>
      <p:ext uri="{BB962C8B-B14F-4D97-AF65-F5344CB8AC3E}">
        <p14:creationId xmlns:p14="http://schemas.microsoft.com/office/powerpoint/2010/main" val="1376208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836D5-C170-44C1-8604-2C5F54F0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All agents find the same open-search basin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8D5A2-0AFE-4313-A275-85704DDE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best open-search fits cluster near χ² ≈ 1638, about seven units below fixed ΛCDM.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01296-9716-4BD1-A527-2952C1ED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B08B0-688B-4817-978E-DEB5FCA4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1A8E9-DA07-4819-9AE2-755D990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e8c4fe95745e4"/>
          <a:stretch xmlns:a="http://schemas.openxmlformats.org/drawingml/2006/main"/>
        </p:blipFill>
        <p:spPr>
          <a:xfrm xmlns:a="http://schemas.openxmlformats.org/drawingml/2006/main">
            <a:off x="817830" y="1581150"/>
            <a:ext cx="710829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474BC-E1F2-4614-BC67-FA0C0F98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Read this as four axes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1964A-0D61-490E-A8F8-E45289A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Global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F4236-691D-4A6D-AB3F-9CB14AE1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all five improve ΛCDM by Δχ² ≈ 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E05C7-43F5-4935-AFAF-6A535AD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Depth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C4AB1-C1FD-4D94-BE10-064CAC1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DeepSeek gives the most χ² &lt; 1650 hits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D5A11-88B9-4B8C-957B-6F31B312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New physics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D7923-F37E-4008-B0C3-C5CD679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Qwen gives the most non-EH hits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8ADB1-9211-4FD5-B087-E9064936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Efficiency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14346-6D16-453F-A45C-26C9A6E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57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Claude and GPT-5.5 are fastest</a:t>
            </a:r>
          </a:p>
        </p:txBody>
      </p:sp>
    </p:spTree>
    <p:extLst>
      <p:ext uri="{BB962C8B-B14F-4D97-AF65-F5344CB8AC3E}">
        <p14:creationId xmlns:p14="http://schemas.microsoft.com/office/powerpoint/2010/main" val="1602633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56824-C1A2-4382-AAD1-51080FE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single-number leaderboard hides different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2F612-23DB-4928-A426-F180F79B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Global optimum, new-physics search, speed, and acceptance rate do not rank agents the same way.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08586-253E-41E8-9274-E83DFA68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B8857-EC80-4895-B268-B943F524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225C1-8FB5-4F6D-A0B4-0B925627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28650" y="1619250"/>
          <a:ext xmlns:a="http://schemas.openxmlformats.org/drawingml/2006/main" cx="99060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62125"/>
                <a:gridCol w="1428750"/>
                <a:gridCol w="1619250"/>
                <a:gridCol w="1619250"/>
                <a:gridCol w="1619250"/>
                <a:gridCol w="1143000"/>
              </a:tblGrid>
              <a:tr h="492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Best χ²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Open &lt;1650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non-EH &lt;2000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Attempts/hr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Accept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DeepSeek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1637.953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0.345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Claude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1637.995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51.5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0.254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Gemini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1637.969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36.7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0.231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GPT-5.5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1638.130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0.266</a:t>
                      </a:r>
                    </a:p>
                  </a:txBody>
                  <a:tcPr marL="91440" marR="91440" marT="45720" marB="45720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t>Qwen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1638.035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36.1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0.217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26D39-2E04-4AAC-84C1-7EDA53DD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AB004-38A7-41A9-8773-3F47DE01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958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DeepSeek wins on best and density; Claude/GPT-5.5 win on speed; Qwen is the strongest non-EH explorer in this matched run.</a:t>
            </a:r>
          </a:p>
        </p:txBody>
      </p:sp>
    </p:spTree>
    <p:extLst>
      <p:ext uri="{BB962C8B-B14F-4D97-AF65-F5344CB8AC3E}">
        <p14:creationId xmlns:p14="http://schemas.microsoft.com/office/powerpoint/2010/main" val="2063620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18E7E-E4B2-4D85-874C-B4CADC41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best expansion histories are nearly degenerate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413D4-7889-42A8-9939-8E9C872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Different agents discover slightly different Lagrangians that reproduce very similar H(z).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4BAAC-47E8-45E6-B8D6-E04F6118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362F-7859-406F-884F-B0D3FB2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C0586-C65A-450A-B73A-F44ECE7D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12bab224643d6"/>
          <a:stretch xmlns:a="http://schemas.openxmlformats.org/drawingml/2006/main"/>
        </p:blipFill>
        <p:spPr>
          <a:xfrm xmlns:a="http://schemas.openxmlformats.org/drawingml/2006/main">
            <a:off x="1151829" y="1524000"/>
            <a:ext cx="6697466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39271-E09D-4DDD-AB53-BFEF0DBC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Physics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BEA8D-5319-4404-A9F8-7DEAA66D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Close to ΛCDM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D283D-8E02-4CBF-9862-E6151C14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best curves are almost on top of the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B406C-6246-4C73-AAD2-AC6BEAEE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Percent-level residuals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01D07-63F2-4575-A548-DBAB386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957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Most of the statistical gain lives in small deviations.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B2BA7-752F-426E-836E-2D7BDA1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Not unique yet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40CC2-8FAA-4A22-B74F-F6942DC2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053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Background data cannot select one covariant operator identity.</a:t>
            </a:r>
          </a:p>
        </p:txBody>
      </p:sp>
    </p:spTree>
    <p:extLst>
      <p:ext uri="{BB962C8B-B14F-4D97-AF65-F5344CB8AC3E}">
        <p14:creationId xmlns:p14="http://schemas.microsoft.com/office/powerpoint/2010/main" val="1317586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1372F8-DA5E-4DDF-B63D-C934059E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How quickly do agents find the basin?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8CD48-E47C-480B-8316-8B280990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Best-so-far curves show exploitation speed, not just final χ².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FC40-D714-44FD-BD2E-97C87D9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9C3C1-D7E5-4041-9223-AEE6C6C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D949D-1622-4AC7-89F4-C594F76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09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b097967e54b60"/>
          <a:stretch xmlns:a="http://schemas.openxmlformats.org/drawingml/2006/main"/>
        </p:blipFill>
        <p:spPr>
          <a:xfrm xmlns:a="http://schemas.openxmlformats.org/drawingml/2006/main">
            <a:off x="762000" y="1543145"/>
            <a:ext cx="7620000" cy="45813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2A31B-B553-48E3-87D7-50FA16B9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05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What to notice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C7F92-2C71-4D2D-9265-D3F3314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9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EEB43-F349-45E4-8713-9B28A04C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Several agents cross the ΛCDM line early.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55FC3-B0B6-4F2D-B9FA-87D90AB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479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8ACCE-E769-49DB-8BDB-ACA8F24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Most of the gain is achieved in the first 100 open-search attempts.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E1069-E066-4317-9B55-3311C30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861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CF3E9-E57A-43F7-81EA-76B95C8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Qwen improves later and is less stable in open search.</a:t>
            </a:r>
          </a:p>
        </p:txBody>
      </p:sp>
    </p:spTree>
    <p:extLst>
      <p:ext uri="{BB962C8B-B14F-4D97-AF65-F5344CB8AC3E}">
        <p14:creationId xmlns:p14="http://schemas.microsoft.com/office/powerpoint/2010/main" val="1598788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8DA0B-A470-4FA2-A64A-891836DA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Open-search result: a high-quality EH-anchored basin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0AE2F-E599-40A1-BFCC-7B95FF4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agents rediscover scalar dark-energy backgrounds with optional curvature corrections.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54057-21C6-44A2-BE77-B167F880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BD21E-C465-43B5-88EA-38972A08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5CB5B-755B-4F66-A4E1-8AC18FA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B2D91-B888-45B7-97F2-3B77AAB4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857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45045-3F9E-472B-A340-8562BE2A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Representative operator motifs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D8008-D86E-489C-A5B4-849D529C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7FB8"/>
                </a:solidFill>
              </a:defRPr>
            </a:pPr>
            <a:r>
              <a:rPr sz="1875" b="1">
                <a:solidFill>
                  <a:srgbClr val="2C7FB8"/>
                </a:solidFill>
              </a:rPr>
              <a:t>R + scalar sector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6466-28D8-4E3B-9901-891C4192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9A14F"/>
                </a:solidFill>
              </a:defRPr>
            </a:pPr>
            <a:r>
              <a:rPr sz="1875" b="1">
                <a:solidFill>
                  <a:srgbClr val="59A14F"/>
                </a:solidFill>
              </a:rPr>
              <a:t>R + φ₂ Riemann²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558C3-A180-43BF-8F1A-1A21809F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8E2B"/>
                </a:solidFill>
              </a:defRPr>
            </a:pPr>
            <a:r>
              <a:rPr sz="1875" b="1">
                <a:solidFill>
                  <a:srgbClr val="F28E2B"/>
                </a:solidFill>
              </a:rPr>
              <a:t>R + φ₁φ₂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92A5A-7C3A-44BB-B599-521AE984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191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A5725-BEFE-4429-A038-62583ACA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How to say it carefully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F3540-9E77-4783-BA21-EDAD2DC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336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367F1-6224-4910-8E53-D1A24411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Low χ² is real at the background level.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A751B-030C-4999-8D65-56EDE2FD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063A9-2B64-4CF3-ADAD-1033B04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But many representatives are nearly equivalent on FLRW.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F2B1D-84D6-484F-9D02-AEB20282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A8547-B17F-4617-BBC9-5727E413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Active higher-curvature claims need perturbation and EFT-control checks.</a:t>
            </a:r>
          </a:p>
        </p:txBody>
      </p:sp>
    </p:spTree>
    <p:extLst>
      <p:ext uri="{BB962C8B-B14F-4D97-AF65-F5344CB8AC3E}">
        <p14:creationId xmlns:p14="http://schemas.microsoft.com/office/powerpoint/2010/main" val="912577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7EBD9-E29F-4061-9726-DEFBFD0F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non-EH sector is the hard new-physics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83A4B-BFFE-47BF-95AF-CF00F8A4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Removing the bare Einstein-Hilbert R anchor makes the fit dramatically harder.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A85E4-36EC-464A-8655-2535275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DBEF6-D15F-4D30-973A-4D358CD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B7CAE-479B-4569-B98C-81B1A028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3211769b34a5e"/>
          <a:stretch xmlns:a="http://schemas.openxmlformats.org/drawingml/2006/main"/>
        </p:blipFill>
        <p:spPr>
          <a:xfrm xmlns:a="http://schemas.openxmlformats.org/drawingml/2006/main">
            <a:off x="723900" y="2211419"/>
            <a:ext cx="7858125" cy="32828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81BF0-9AE2-44EC-8539-8B573CD3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2DA4E-38A7-46AE-A11E-6AB811F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336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B01A-67CE-47FE-A2D8-415A3766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Four agents repeatedly find a branch near χ² ≈ 1946.87.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64D45-1555-4714-9CCA-D6ECE27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717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AA98A-1111-4F45-AD63-2363C87D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Qwen finds the most non-EH hits below χ² &lt; 2000.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985F5-8CB9-4699-8C13-61143F53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99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DF1BE-8BFD-4414-936D-1EDDE8A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004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This is much better than the generic non-EH failure plateau, but still worse than ΛCDM.</a:t>
            </a:r>
          </a:p>
        </p:txBody>
      </p:sp>
    </p:spTree>
    <p:extLst>
      <p:ext uri="{BB962C8B-B14F-4D97-AF65-F5344CB8AC3E}">
        <p14:creationId xmlns:p14="http://schemas.microsoft.com/office/powerpoint/2010/main" val="16320317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73522-4318-44EE-B0EF-188B7CAA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What did the new-physics search find?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42D5C-931F-4B47-A02C-B7D1ACC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repeated non-EH branch is curvature-coupled, φ₂-dominated, and background-runnable.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08D52-F0ED-47A7-8AAA-83048C63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10782-C6CB-4332-81F4-535C38B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2B63C-25D2-49C2-AD6E-B0E4D1D0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61C33-4BA9-47E5-A075-F622C81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Common branch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4E318-B723-4F4A-BBFA-DAAF82B1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8387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53B28-9BFD-42EB-B32E-2BEBDC8E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φ₂ R_{μν}R^{μν}  +  φ₂ R_{μνρσ}R^{μνρσ}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C9118-313A-4B5A-849E-70F8711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+ scalar-sector terms and coefficient restrictions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AAA51-BA3E-426B-9775-CAC7DD56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2B313-E66F-4052-963B-65F98B0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55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30065-C701-470B-B18C-4BB2ACA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It proves the search can find non-EH runnable structures.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DDD63-1E62-4360-ABAE-8C237EF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E7213-5A29-4087-A251-CE3FE12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It is not a viable replacement for the EH-anchored basin in this likelihood.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D75B0-8B98-4D7E-9206-8002AA8E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D2242-D5C2-41BB-82FF-19478D13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Future runs should test perturbations and operator redundancy before assigning physical meaning.</a:t>
            </a:r>
          </a:p>
        </p:txBody>
      </p:sp>
    </p:spTree>
    <p:extLst>
      <p:ext uri="{BB962C8B-B14F-4D97-AF65-F5344CB8AC3E}">
        <p14:creationId xmlns:p14="http://schemas.microsoft.com/office/powerpoint/2010/main" val="19143168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B7CEB-CD29-42FE-8E9E-82167622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Speed and quality separate the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6F6F-C1DE-4B0A-A958-54AEE73C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fastest agent is not necessarily the densest high-quality searcher.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54EF5-7417-4ACA-8A97-848CBA79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EA13C-462B-4304-A59D-453810BC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AFACD-D7F0-49FA-A277-85D32509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dff15ec324066"/>
          <a:stretch xmlns:a="http://schemas.openxmlformats.org/drawingml/2006/main"/>
        </p:blipFill>
        <p:spPr>
          <a:xfrm xmlns:a="http://schemas.openxmlformats.org/drawingml/2006/main">
            <a:off x="1221162" y="1485900"/>
            <a:ext cx="6873125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76451-81B0-4793-BB67-C03B4CB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Operational readout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F182A-BD9F-4A0E-B4ED-E2442A13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Fastest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6FD29-1615-44D8-A78B-03542B6D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670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Claude and GPT-5.5 give the best wall-clock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38B0F-E7A5-4578-B8ED-C3C5B4F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Densest basin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F803C-3996-4867-96AF-06C44883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DeepSeek finds the strongest cluster of high-quality open-search hits, but slowly.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F05A2-9F43-4E34-B18A-21B0E7E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Choice depends on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24396-085F-4A2B-85F2-34C86915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38750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 speed, depth, and new-physics hits as separate axes.</a:t>
            </a:r>
          </a:p>
        </p:txBody>
      </p:sp>
    </p:spTree>
    <p:extLst>
      <p:ext uri="{BB962C8B-B14F-4D97-AF65-F5344CB8AC3E}">
        <p14:creationId xmlns:p14="http://schemas.microsoft.com/office/powerpoint/2010/main" val="7798734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C40C66-EA37-4DDB-9BE1-70BF74E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Acceptance rate is a robustness metric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C3B9-8F22-440B-BAAB-7B3C479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It tells us how often proposals reach a runnable background, not whether the theory is final.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C7F5-34C3-4A81-A857-50BE3A8D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D797F-769A-4A66-AE54-860DED45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EC6C8-3275-4FEA-BE67-56CF57BE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7989D-9253-4234-B063-E51AD0A0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2E738-9C1E-4E78-AE6C-8F5D9F0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64B4B"/>
                </a:solidFill>
              </a:defRPr>
            </a:pPr>
            <a:r>
              <a:rPr sz="2850" b="1">
                <a:solidFill>
                  <a:srgbClr val="D64B4B"/>
                </a:solidFill>
              </a:rPr>
              <a:t>0.345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41F92-0B54-4C52-9177-9EE6818F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DeepSeek accepted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32CD0-D9F1-4442-BE67-99B517E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F98"/>
                </a:solidFill>
              </a:defRPr>
            </a:pPr>
            <a:r>
              <a:rPr sz="975" b="0">
                <a:solidFill>
                  <a:srgbClr val="8B8F98"/>
                </a:solidFill>
              </a:rPr>
              <a:t>highest overall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40E2-3CFE-4F32-A04D-17743C7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7AA81-4022-44A1-88E4-8991575F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C7FB8"/>
                </a:solidFill>
              </a:defRPr>
            </a:pPr>
            <a:r>
              <a:rPr sz="2850" b="1">
                <a:solidFill>
                  <a:srgbClr val="2C7FB8"/>
                </a:solidFill>
              </a:rPr>
              <a:t>0.266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A9BAB-ABF8-4DF3-AA1A-6784EC98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GPT-5.5 accepted fraction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1FA83-9184-4A5D-8C4C-228B0B7D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F98"/>
                </a:solidFill>
              </a:defRPr>
            </a:pPr>
            <a:r>
              <a:rPr sz="975" b="0">
                <a:solidFill>
                  <a:srgbClr val="8B8F98"/>
                </a:solidFill>
              </a:rPr>
              <a:t>fast + competitive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A99BD-BF9B-4389-89DF-9C655A65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50B16-094C-4D5D-A830-9BDBC56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79A5"/>
                </a:solidFill>
              </a:defRPr>
            </a:pPr>
            <a:r>
              <a:rPr sz="2850" b="1">
                <a:solidFill>
                  <a:srgbClr val="A879A5"/>
                </a:solidFill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46B3F-EC35-4472-B1D2-80064D0B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Qwen non-EH hit 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A2F7B-AED9-4BCB-8A70-924754D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8F98"/>
                </a:solidFill>
              </a:defRPr>
            </a:pPr>
            <a:r>
              <a:rPr sz="975" b="0">
                <a:solidFill>
                  <a:srgbClr val="8B8F98"/>
                </a:solidFill>
              </a:rPr>
              <a:t>best new-physics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9D75B-84F8-42A6-A52C-6557F5FC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Why it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10ED2-4C22-4A07-AEF0-8BCBF67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54DCD-8DA7-4AC8-8B50-20C0CEE1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High acceptance improves learning because more attempts produce Solver feedback.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AA968-D33C-48F4-990D-B73E29DD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7CF2C-8A1B-4739-ABD6-6C21263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Low χ² remains the primary scientific ranking.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AE27D-080E-4071-BA83-5D45F59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494A7-E55F-4741-AD3E-AB9BC93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 low acceptance rate can still be useful if surviving candidates are diverse or rare.</a:t>
            </a:r>
          </a:p>
        </p:txBody>
      </p:sp>
    </p:spTree>
    <p:extLst>
      <p:ext uri="{BB962C8B-B14F-4D97-AF65-F5344CB8AC3E}">
        <p14:creationId xmlns:p14="http://schemas.microsoft.com/office/powerpoint/2010/main" val="19384356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ACA05-7565-4146-9AA6-C67BD1E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What is not proven yet?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4725C-F8B3-4BFA-877A-731F099B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current pipeline is a background-level discovery filter, not a full covariant viability proof.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C65BF-F8F7-4007-92E0-14E72B17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E204B-4F6C-421A-80C0-583E172C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AADD0-F495-4F39-9920-024AEF6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95AAB-419A-44F3-A000-7445AB87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58616-3902-4AB8-9313-7B0813C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Perturbations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E1ADE-5B0A-4B6E-A7BA-152D145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kinetic matrix, sound speeds, gradient stability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5F2F5-FACB-4115-8EAD-E366F470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C9F2F-9D5C-4B59-9630-A847871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Structure 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FA042-970A-460A-9F7C-328B3C66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weak lensing, RSD, growth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23F9B-58E8-4E54-AD51-CBC8D01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668F0-CD5A-419B-9A53-0BD11ED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Gravity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8F2F9-A2D5-4407-AA50-00C6BDFC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GW propagation and local screening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FDAA5-55FB-47B4-894C-21C8B95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2DAEB-4ECB-4EDE-AAFC-DB68A10A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Operator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E9D34-4676-4FE1-81C1-BB14413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33700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remove FLRW-equivalent representatives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F13E5-F4E7-40F3-8E40-1F9F62E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Main safe conclusion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EE4AA-A806-4C12-9129-2A510C6A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768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The benchmark is already useful as a reproducible comparison of proposal policies, but physics claims require the next validation layers.</a:t>
            </a:r>
          </a:p>
        </p:txBody>
      </p:sp>
    </p:spTree>
    <p:extLst>
      <p:ext uri="{BB962C8B-B14F-4D97-AF65-F5344CB8AC3E}">
        <p14:creationId xmlns:p14="http://schemas.microsoft.com/office/powerpoint/2010/main" val="170493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23BD8-6F0D-4D02-955D-DE817335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Take-home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A9BC4-68C9-49B4-A17C-3899D680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CAC51-3BAE-4AD4-82E7-009071BA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C7FB8"/>
                </a:solidFill>
              </a:defRPr>
            </a:pPr>
            <a:r>
              <a:rPr sz="3600" b="1">
                <a:solidFill>
                  <a:srgbClr val="2C7FB8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33F05-B604-4B64-9F20-4A60700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AI proposal agents can reliably rediscover the best EH-anchored dark-energy basin under a deterministic physics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806BD-34CB-415C-A7E9-D1E29FE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64B4B"/>
                </a:solidFill>
              </a:defRPr>
            </a:pPr>
            <a:r>
              <a:rPr sz="3600" b="1">
                <a:solidFill>
                  <a:srgbClr val="D64B4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F1A02-2ABA-4048-BD53-29C71A9C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deliberately non-EH new-physics sector is much harder, but it produces repeated, runnable curvature-coupled branches.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28617-4BFA-40D1-A891-952B3AE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9A14F"/>
                </a:solidFill>
              </a:defRPr>
            </a:pPr>
            <a:r>
              <a:rPr sz="3600" b="1">
                <a:solidFill>
                  <a:srgbClr val="59A14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7BFD3-0A69-469C-9F2D-689A270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 useful benchmark should report global optimum, new-physics hits, speed, robustness, and acceptance rate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30F54-271B-4177-9C46-712F5E4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AI modified gravity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9D46F-B0F4-421F-94BF-C902AAA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B8F98"/>
                </a:solidFill>
              </a:defRPr>
            </a:pPr>
            <a:r>
              <a:rPr sz="1050" b="0">
                <a:solidFill>
                  <a:srgbClr val="8B8F9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70689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2026-06-26T12:40:58.2220000Z</dcterms:created>
  <dcterms:modified xsi:type="dcterms:W3CDTF">2026-06-26T12:40:58.2220000Z</dcterms:modified>
</coreProperties>
</file>